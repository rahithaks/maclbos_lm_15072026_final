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0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H1'26 – YoY : June'26 v June'25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P&amp;L Analysis · {{entity}}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20840" y="7315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mINR · {{comparison_label}}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62288" y="731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{{as_of_month}}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24160" y="731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24126"/>
              </p:ext>
            </p:extLst>
          </p:nvPr>
        </p:nvGraphicFramePr>
        <p:xfrm>
          <a:off x="438912" y="1170432"/>
          <a:ext cx="5138928" cy="3963924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BGSW India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CF05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Benefits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Outsourcing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Consultancy Charges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Charges &amp; Other 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EBIT% of TNS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</a:t>
                      </a:r>
                      <a:r>
                        <a:rPr lang="en-US" sz="610" dirty="0" err="1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onroll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</a:t>
                      </a:r>
                      <a:r>
                        <a:rPr lang="en-US" sz="61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End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overall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Average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36208" y="1143000"/>
            <a:ext cx="5413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Driven by the below key factors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236208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7562088" y="140817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increase +1%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Favorable forex impact +8%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Utilization impact -9%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Non-Effort based billing +2%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(rate increase INR 86/USD to INR 91.3/USD) – gain of 8%.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6236208" y="19385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benefits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7562088" y="1929384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 increase is primarily on account of: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Pyramid mix -9.7%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CSR impact -21.3%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IRR impact including factor change +9.9%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Restructuring / debt factor like -4.2%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6236208" y="26517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cost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7562088" y="264261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+15% due YOY Per PMO rate increase (Majorly in BD &amp; SDS) also outsourcing price impact.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6236208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Consultancy cost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7562088" y="3163824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+658mINR, largely due one-time costs and project-related charges.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6236208" y="3694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Charges &amp; Other Revenue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7562088" y="3685032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Largely on account of price increase, forex exchange rate impact and additional software purchases.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6236208" y="42153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Cost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7562088" y="4206240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cost is on account of recovery from additional costs charged in FY22 &amp; H1'26.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6236208" y="4736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expenses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7562088" y="4727448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is due to customer claim reversal, release of provision and other prior-period adjustments.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6236208" y="5285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40" i="1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{{evidence_note}}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6236208" y="580644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authorized Enterprise Data cube read at run time. Actual and CF scenarios remain separate.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7909560" cy="292608"/>
          </a:xfrm>
          <a:prstGeom prst="rect">
            <a:avLst/>
          </a:prstGeom>
          <a:solidFill>
            <a:srgbClr val="008A99"/>
          </a:solidFill>
          <a:ln w="12700">
            <a:solidFill>
              <a:srgbClr val="008A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7909560" y="6565392"/>
            <a:ext cx="242316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10332720" y="6565392"/>
            <a:ext cx="18562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84048" y="66019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0817352" y="6574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603</Words>
  <Application>Microsoft Office PowerPoint</Application>
  <PresentationFormat>Widescreen</PresentationFormat>
  <Paragraphs>152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P&amp;L Analysis Template</dc:title>
  <dc:subject>Editable Entity P&amp;L PowerPoint template</dc:subject>
  <dc:creator>LedgerLM</dc:creator>
  <cp:lastModifiedBy>Rahitha</cp:lastModifiedBy>
  <cp:revision>2</cp:revision>
  <dcterms:created xsi:type="dcterms:W3CDTF">2026-08-20T14:50:05Z</dcterms:created>
  <dcterms:modified xsi:type="dcterms:W3CDTF">2026-08-20T18:07:39Z</dcterms:modified>
</cp:coreProperties>
</file>