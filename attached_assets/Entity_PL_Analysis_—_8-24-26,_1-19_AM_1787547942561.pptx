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0073"/>
                </a:solidFill>
              </a:rPr>
              <a:t>P&amp;L Q3'25 – QoQ : July'25 v Apr'25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D88"/>
                </a:solidFill>
              </a:rPr>
              <a:t>Entity: All entities · Jul 2025 MTD vs Apr 2025 MTD · QoQ MTD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663440" y="969264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i="1" dirty="0">
                <a:solidFill>
                  <a:srgbClr val="263238"/>
                </a:solidFill>
              </a:rPr>
              <a:t>Values in mUSD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1207008"/>
          <a:ext cx="5522976" cy="4782312"/>
        </p:xfrm>
        <a:graphic>
          <a:graphicData uri="http://schemas.openxmlformats.org/drawingml/2006/table">
            <a:tbl>
              <a:tblPr/>
              <a:tblGrid>
                <a:gridCol w="1499616"/>
                <a:gridCol w="621792"/>
                <a:gridCol w="621792"/>
                <a:gridCol w="704088"/>
                <a:gridCol w="704088"/>
                <a:gridCol w="704088"/>
                <a:gridCol w="402336"/>
              </a:tblGrid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All entities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Dec 2024 YE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CF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Jul 2025 MTD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Apr 2025 MTD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Variance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8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Revenue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62,396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1,044,352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-981,956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-94.0%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Employee Benefits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236,548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-155,494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392,042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252.1%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Outsourcing Cost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-139,220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1,135,774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-1,274,994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-112.3%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Consultancy Charges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3,629,828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-3,983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3,633,811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91223.8%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CI Charges &amp; Other Revenue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-6,946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2,625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-9,571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-364.7%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Facilities Cost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-513,801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907,919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-1,421,720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-156.6%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Other Expenses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-445,875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2,112,426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-2,558,301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-121.1%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Total Expenses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764,858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6,024,176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-5,259,318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-87.3%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EBIT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-702,462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-4,979,825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4,277,363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E6B4E"/>
                          </a:solidFill>
                        </a:rPr>
                        <a:t>85.9%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EBIT%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-1125.8%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-476.8%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-649.0%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-136.1%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End Capacity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2,962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2,988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-26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-0.9%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Average Capacity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263238"/>
                          </a:solidFill>
                        </a:rPr>
                        <a:t>2,975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263238"/>
                          </a:solidFill>
                        </a:rPr>
                        <a:t>2,976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-0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B42318"/>
                          </a:solidFill>
                        </a:rPr>
                        <a:t>-0.0%</a:t>
                      </a:r>
                      <a:endParaRPr lang="en-US" sz="620" dirty="0"/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72784" y="114300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263238"/>
                </a:solidFill>
              </a:rPr>
              <a:t>Revenue and EBIT:</a:t>
            </a:r>
            <a:endParaRPr lang="en-US" sz="740" dirty="0"/>
          </a:p>
        </p:txBody>
      </p:sp>
      <p:sp>
        <p:nvSpPr>
          <p:cNvPr id="7" name="Text 4"/>
          <p:cNvSpPr/>
          <p:nvPr/>
        </p:nvSpPr>
        <p:spPr>
          <a:xfrm>
            <a:off x="7589520" y="1143000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625" dirty="0">
                <a:solidFill>
                  <a:srgbClr val="263238"/>
                </a:solidFill>
              </a:rPr>
              <a:t>Jul 2025 MTD revenue is $62,396 and EBIT is $-702,462. Underlying business causes require owner commentary.</a:t>
            </a:r>
            <a:endParaRPr lang="en-US" sz="625" dirty="0"/>
          </a:p>
        </p:txBody>
      </p:sp>
      <p:sp>
        <p:nvSpPr>
          <p:cNvPr id="8" name="Text 5"/>
          <p:cNvSpPr/>
          <p:nvPr/>
        </p:nvSpPr>
        <p:spPr>
          <a:xfrm>
            <a:off x="6272784" y="1764792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263238"/>
                </a:solidFill>
              </a:rPr>
              <a:t>Outsourcing Cost:</a:t>
            </a:r>
            <a:endParaRPr lang="en-US" sz="740" dirty="0"/>
          </a:p>
        </p:txBody>
      </p:sp>
      <p:sp>
        <p:nvSpPr>
          <p:cNvPr id="9" name="Text 6"/>
          <p:cNvSpPr/>
          <p:nvPr/>
        </p:nvSpPr>
        <p:spPr>
          <a:xfrm>
            <a:off x="7589520" y="1764792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625" dirty="0">
                <a:solidFill>
                  <a:srgbClr val="263238"/>
                </a:solidFill>
              </a:rPr>
              <a:t>Owner commentary is required to attribute this movement. This report shows only the governed cube figures.</a:t>
            </a:r>
            <a:endParaRPr lang="en-US" sz="625" dirty="0"/>
          </a:p>
        </p:txBody>
      </p:sp>
      <p:sp>
        <p:nvSpPr>
          <p:cNvPr id="10" name="Text 7"/>
          <p:cNvSpPr/>
          <p:nvPr/>
        </p:nvSpPr>
        <p:spPr>
          <a:xfrm>
            <a:off x="6272784" y="2386584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263238"/>
                </a:solidFill>
              </a:rPr>
              <a:t>Consultancy Charges:</a:t>
            </a:r>
            <a:endParaRPr lang="en-US" sz="740" dirty="0"/>
          </a:p>
        </p:txBody>
      </p:sp>
      <p:sp>
        <p:nvSpPr>
          <p:cNvPr id="11" name="Text 8"/>
          <p:cNvSpPr/>
          <p:nvPr/>
        </p:nvSpPr>
        <p:spPr>
          <a:xfrm>
            <a:off x="7589520" y="2386584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625" dirty="0">
                <a:solidFill>
                  <a:srgbClr val="263238"/>
                </a:solidFill>
              </a:rPr>
              <a:t>Owner commentary is required to attribute this movement. This report shows only the governed cube figures.</a:t>
            </a:r>
            <a:endParaRPr lang="en-US" sz="625" dirty="0"/>
          </a:p>
        </p:txBody>
      </p:sp>
      <p:sp>
        <p:nvSpPr>
          <p:cNvPr id="12" name="Text 9"/>
          <p:cNvSpPr/>
          <p:nvPr/>
        </p:nvSpPr>
        <p:spPr>
          <a:xfrm>
            <a:off x="6272784" y="30083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263238"/>
                </a:solidFill>
              </a:rPr>
              <a:t>CI Charges &amp; Other Revenue:</a:t>
            </a:r>
            <a:endParaRPr lang="en-US" sz="740" dirty="0"/>
          </a:p>
        </p:txBody>
      </p:sp>
      <p:sp>
        <p:nvSpPr>
          <p:cNvPr id="13" name="Text 10"/>
          <p:cNvSpPr/>
          <p:nvPr/>
        </p:nvSpPr>
        <p:spPr>
          <a:xfrm>
            <a:off x="7589520" y="3008376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625" dirty="0">
                <a:solidFill>
                  <a:srgbClr val="263238"/>
                </a:solidFill>
              </a:rPr>
              <a:t>Owner commentary is required to attribute this movement. This report shows only the governed cube figures.</a:t>
            </a:r>
            <a:endParaRPr lang="en-US" sz="625" dirty="0"/>
          </a:p>
        </p:txBody>
      </p:sp>
      <p:sp>
        <p:nvSpPr>
          <p:cNvPr id="14" name="Text 11"/>
          <p:cNvSpPr/>
          <p:nvPr/>
        </p:nvSpPr>
        <p:spPr>
          <a:xfrm>
            <a:off x="6272784" y="3630168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263238"/>
                </a:solidFill>
              </a:rPr>
              <a:t>Facilities Cost: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7589520" y="3630168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625" dirty="0">
                <a:solidFill>
                  <a:srgbClr val="263238"/>
                </a:solidFill>
              </a:rPr>
              <a:t>Owner commentary is required to attribute this movement. This report shows only the governed cube figures.</a:t>
            </a:r>
            <a:endParaRPr lang="en-US" sz="625" dirty="0"/>
          </a:p>
        </p:txBody>
      </p:sp>
      <p:sp>
        <p:nvSpPr>
          <p:cNvPr id="16" name="Text 13"/>
          <p:cNvSpPr/>
          <p:nvPr/>
        </p:nvSpPr>
        <p:spPr>
          <a:xfrm>
            <a:off x="6272784" y="425196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263238"/>
                </a:solidFill>
              </a:rPr>
              <a:t>Other Expenses:</a:t>
            </a:r>
            <a:endParaRPr lang="en-US" sz="740" dirty="0"/>
          </a:p>
        </p:txBody>
      </p:sp>
      <p:sp>
        <p:nvSpPr>
          <p:cNvPr id="17" name="Text 14"/>
          <p:cNvSpPr/>
          <p:nvPr/>
        </p:nvSpPr>
        <p:spPr>
          <a:xfrm>
            <a:off x="7589520" y="4251960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625" dirty="0">
                <a:solidFill>
                  <a:srgbClr val="263238"/>
                </a:solidFill>
              </a:rPr>
              <a:t>Owner commentary is required to attribute this movement. This report shows only the governed cube figures.</a:t>
            </a:r>
            <a:endParaRPr lang="en-US" sz="625" dirty="0"/>
          </a:p>
        </p:txBody>
      </p:sp>
      <p:sp>
        <p:nvSpPr>
          <p:cNvPr id="18" name="Text 15"/>
          <p:cNvSpPr/>
          <p:nvPr/>
        </p:nvSpPr>
        <p:spPr>
          <a:xfrm>
            <a:off x="438912" y="6099048"/>
            <a:ext cx="7955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65747A"/>
                </a:solidFill>
              </a:rPr>
              <a:t>Read-only run from the selected Enterprise cube across all entity rows, including blank entity values.</a:t>
            </a:r>
            <a:endParaRPr lang="en-US" sz="570" dirty="0"/>
          </a:p>
        </p:txBody>
      </p:sp>
      <p:sp>
        <p:nvSpPr>
          <p:cNvPr id="19" name="Text 16"/>
          <p:cNvSpPr/>
          <p:nvPr/>
        </p:nvSpPr>
        <p:spPr>
          <a:xfrm>
            <a:off x="10771632" y="60899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0015"/>
                </a:solidFill>
              </a:rPr>
              <a:t>BOSCH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6565392"/>
            <a:ext cx="2834640" cy="292608"/>
          </a:xfrm>
          <a:prstGeom prst="rect">
            <a:avLst/>
          </a:prstGeom>
          <a:solidFill>
            <a:srgbClr val="E20015"/>
          </a:solidFill>
          <a:ln w="12700">
            <a:solidFill>
              <a:srgbClr val="E2001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834640" y="6565392"/>
            <a:ext cx="1234440" cy="292608"/>
          </a:xfrm>
          <a:prstGeom prst="rect">
            <a:avLst/>
          </a:prstGeom>
          <a:solidFill>
            <a:srgbClr val="743B8E"/>
          </a:solidFill>
          <a:ln w="12700">
            <a:solidFill>
              <a:srgbClr val="743B8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069080" y="6565392"/>
            <a:ext cx="1463040" cy="292608"/>
          </a:xfrm>
          <a:prstGeom prst="rect">
            <a:avLst/>
          </a:prstGeom>
          <a:solidFill>
            <a:srgbClr val="006B76"/>
          </a:solidFill>
          <a:ln w="12700">
            <a:solidFill>
              <a:srgbClr val="006B7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32120" y="6565392"/>
            <a:ext cx="2011680" cy="292608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543800" y="6565392"/>
            <a:ext cx="1188720" cy="292608"/>
          </a:xfrm>
          <a:prstGeom prst="rect">
            <a:avLst/>
          </a:prstGeom>
          <a:solidFill>
            <a:srgbClr val="37A757"/>
          </a:solidFill>
          <a:ln w="12700">
            <a:solidFill>
              <a:srgbClr val="37A75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32520" y="6565392"/>
            <a:ext cx="3456432" cy="292608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2026-08-23T19:49:33Z</dcterms:created>
  <dcterms:modified xsi:type="dcterms:W3CDTF">2026-08-23T19:49:33Z</dcterms:modified>
</cp:coreProperties>
</file>