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8412480"/>
  <p:notesSz cx="841248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{{report_month}}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2496312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19" name="Shape 17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World Wide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46520" y="1627632"/>
            <a:ext cx="4956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29768" y="1938528"/>
            <a:ext cx="68580" cy="992124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/ Revenue: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{{ww_budget_revenue_summary}}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{{ww_budget_revenue_detail}}</a:t>
            </a:r>
            <a:endParaRPr lang="en-US" sz="675" dirty="0"/>
          </a:p>
        </p:txBody>
      </p:sp>
      <p:sp>
        <p:nvSpPr>
          <p:cNvPr id="41" name="Shape 39"/>
          <p:cNvSpPr/>
          <p:nvPr/>
        </p:nvSpPr>
        <p:spPr>
          <a:xfrm>
            <a:off x="429768" y="2990088"/>
            <a:ext cx="68580" cy="937260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Utilization:</a:t>
            </a:r>
            <a:endParaRPr lang="en-US" sz="860" dirty="0"/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{{ww_internal_utilization_summary}}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{{ww_internal_utilization_detail}}</a:t>
            </a:r>
            <a:endParaRPr lang="en-US" sz="675" dirty="0"/>
          </a:p>
        </p:txBody>
      </p:sp>
      <p:sp>
        <p:nvSpPr>
          <p:cNvPr id="44" name="Shape 42"/>
          <p:cNvSpPr/>
          <p:nvPr/>
        </p:nvSpPr>
        <p:spPr>
          <a:xfrm>
            <a:off x="429768" y="4005072"/>
            <a:ext cx="68580" cy="937260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" y="40233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Utilization: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749808" y="420624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{{ww_external_utilization_summary}}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{{ww_external_utilization_detail}}</a:t>
            </a:r>
            <a:endParaRPr lang="en-US" sz="675" dirty="0"/>
          </a:p>
        </p:txBody>
      </p:sp>
      <p:sp>
        <p:nvSpPr>
          <p:cNvPr id="47" name="Shape 45"/>
          <p:cNvSpPr/>
          <p:nvPr/>
        </p:nvSpPr>
        <p:spPr>
          <a:xfrm>
            <a:off x="429768" y="5020056"/>
            <a:ext cx="68580" cy="937260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" y="503834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(Internal + External):</a:t>
            </a:r>
            <a:endParaRPr lang="en-US" sz="860" dirty="0"/>
          </a:p>
        </p:txBody>
      </p:sp>
      <p:sp>
        <p:nvSpPr>
          <p:cNvPr id="49" name="Text 47"/>
          <p:cNvSpPr/>
          <p:nvPr/>
        </p:nvSpPr>
        <p:spPr>
          <a:xfrm>
            <a:off x="749808" y="522122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{{ww_capacity_summary}}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{{ww_capacity_detail}}</a:t>
            </a:r>
            <a:endParaRPr lang="en-US" sz="675" dirty="0"/>
          </a:p>
        </p:txBody>
      </p:sp>
      <p:sp>
        <p:nvSpPr>
          <p:cNvPr id="50" name="Shape 48"/>
          <p:cNvSpPr/>
          <p:nvPr/>
        </p:nvSpPr>
        <p:spPr>
          <a:xfrm>
            <a:off x="438912" y="6144768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6254496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438912" y="6464808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{{ww_source_note}}  •  Actuals: {{ww_actual_source_label}}  •  Forecast: {{ww_forecast_source_label}}  •  {{ww_period_label}}</a:t>
            </a:r>
            <a:endParaRPr lang="en-US" sz="670" dirty="0"/>
          </a:p>
        </p:txBody>
      </p:sp>
      <p:sp>
        <p:nvSpPr>
          <p:cNvPr id="53" name="Text 51"/>
          <p:cNvSpPr/>
          <p:nvPr/>
        </p:nvSpPr>
        <p:spPr>
          <a:xfrm>
            <a:off x="438912" y="6784848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6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{{ww_warnings}}</a:t>
            </a:r>
            <a:endParaRPr lang="en-US" sz="660" dirty="0"/>
          </a:p>
        </p:txBody>
      </p:sp>
      <p:sp>
        <p:nvSpPr>
          <p:cNvPr id="54" name="Text 52"/>
          <p:cNvSpPr/>
          <p:nvPr/>
        </p:nvSpPr>
        <p:spPr>
          <a:xfrm>
            <a:off x="9372600" y="7205472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{{ww_entity_label}}  •  Slide 1 of 4</a:t>
            </a:r>
            <a:endParaRPr lang="en-US" sz="58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{{report_month}}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4626864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BGSW India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46520" y="1627632"/>
            <a:ext cx="4956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29768" y="1938528"/>
            <a:ext cx="68580" cy="992124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/ Revenue: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{{in_budget_revenue_summary}}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{{in_budget_revenue_detail}}</a:t>
            </a:r>
            <a:endParaRPr lang="en-US" sz="675" dirty="0"/>
          </a:p>
        </p:txBody>
      </p:sp>
      <p:sp>
        <p:nvSpPr>
          <p:cNvPr id="41" name="Shape 39"/>
          <p:cNvSpPr/>
          <p:nvPr/>
        </p:nvSpPr>
        <p:spPr>
          <a:xfrm>
            <a:off x="429768" y="2990088"/>
            <a:ext cx="68580" cy="937260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Utilization:</a:t>
            </a:r>
            <a:endParaRPr lang="en-US" sz="860" dirty="0"/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{{in_internal_utilization_summary}}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{{in_internal_utilization_detail}}</a:t>
            </a:r>
            <a:endParaRPr lang="en-US" sz="675" dirty="0"/>
          </a:p>
        </p:txBody>
      </p:sp>
      <p:sp>
        <p:nvSpPr>
          <p:cNvPr id="44" name="Shape 42"/>
          <p:cNvSpPr/>
          <p:nvPr/>
        </p:nvSpPr>
        <p:spPr>
          <a:xfrm>
            <a:off x="429768" y="4005072"/>
            <a:ext cx="68580" cy="937260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" y="40233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Utilization: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749808" y="420624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{{in_external_utilization_summary}}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{{in_external_utilization_detail}}</a:t>
            </a:r>
            <a:endParaRPr lang="en-US" sz="675" dirty="0"/>
          </a:p>
        </p:txBody>
      </p:sp>
      <p:sp>
        <p:nvSpPr>
          <p:cNvPr id="47" name="Shape 45"/>
          <p:cNvSpPr/>
          <p:nvPr/>
        </p:nvSpPr>
        <p:spPr>
          <a:xfrm>
            <a:off x="429768" y="5020056"/>
            <a:ext cx="68580" cy="937260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" y="503834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(Internal + External):</a:t>
            </a:r>
            <a:endParaRPr lang="en-US" sz="860" dirty="0"/>
          </a:p>
        </p:txBody>
      </p:sp>
      <p:sp>
        <p:nvSpPr>
          <p:cNvPr id="49" name="Text 47"/>
          <p:cNvSpPr/>
          <p:nvPr/>
        </p:nvSpPr>
        <p:spPr>
          <a:xfrm>
            <a:off x="749808" y="522122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{{in_capacity_summary}}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{{in_capacity_detail}}</a:t>
            </a:r>
            <a:endParaRPr lang="en-US" sz="675" dirty="0"/>
          </a:p>
        </p:txBody>
      </p:sp>
      <p:sp>
        <p:nvSpPr>
          <p:cNvPr id="50" name="Shape 48"/>
          <p:cNvSpPr/>
          <p:nvPr/>
        </p:nvSpPr>
        <p:spPr>
          <a:xfrm>
            <a:off x="438912" y="6144768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6254496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438912" y="6464808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{{in_source_note}}  •  Actuals: {{in_actual_source_label}}  •  Forecast: {{in_forecast_source_label}}  •  {{in_period_label}}</a:t>
            </a:r>
            <a:endParaRPr lang="en-US" sz="670" dirty="0"/>
          </a:p>
        </p:txBody>
      </p:sp>
      <p:sp>
        <p:nvSpPr>
          <p:cNvPr id="53" name="Text 51"/>
          <p:cNvSpPr/>
          <p:nvPr/>
        </p:nvSpPr>
        <p:spPr>
          <a:xfrm>
            <a:off x="438912" y="6784848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6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{{in_warnings}}</a:t>
            </a:r>
            <a:endParaRPr lang="en-US" sz="660" dirty="0"/>
          </a:p>
        </p:txBody>
      </p:sp>
      <p:sp>
        <p:nvSpPr>
          <p:cNvPr id="54" name="Text 52"/>
          <p:cNvSpPr/>
          <p:nvPr/>
        </p:nvSpPr>
        <p:spPr>
          <a:xfrm>
            <a:off x="9372600" y="7205472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{{in_entity_label}}  •  Slide 2 of 4</a:t>
            </a:r>
            <a:endParaRPr lang="en-US" sz="58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{{report_month}}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6757416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BGSV Vietnam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46520" y="1627632"/>
            <a:ext cx="4956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29768" y="1938528"/>
            <a:ext cx="68580" cy="992124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/ Revenue: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{{vn_budget_revenue_summary}}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{{vn_budget_revenue_detail}}</a:t>
            </a:r>
            <a:endParaRPr lang="en-US" sz="675" dirty="0"/>
          </a:p>
        </p:txBody>
      </p:sp>
      <p:sp>
        <p:nvSpPr>
          <p:cNvPr id="41" name="Shape 39"/>
          <p:cNvSpPr/>
          <p:nvPr/>
        </p:nvSpPr>
        <p:spPr>
          <a:xfrm>
            <a:off x="429768" y="2990088"/>
            <a:ext cx="68580" cy="937260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Utilization:</a:t>
            </a:r>
            <a:endParaRPr lang="en-US" sz="860" dirty="0"/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{{vn_internal_utilization_summary}}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{{vn_internal_utilization_detail}}</a:t>
            </a:r>
            <a:endParaRPr lang="en-US" sz="675" dirty="0"/>
          </a:p>
        </p:txBody>
      </p:sp>
      <p:sp>
        <p:nvSpPr>
          <p:cNvPr id="44" name="Shape 42"/>
          <p:cNvSpPr/>
          <p:nvPr/>
        </p:nvSpPr>
        <p:spPr>
          <a:xfrm>
            <a:off x="429768" y="4005072"/>
            <a:ext cx="68580" cy="937260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" y="40233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Utilization: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749808" y="420624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{{vn_external_utilization_summary}}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{{vn_external_utilization_detail}}</a:t>
            </a:r>
            <a:endParaRPr lang="en-US" sz="675" dirty="0"/>
          </a:p>
        </p:txBody>
      </p:sp>
      <p:sp>
        <p:nvSpPr>
          <p:cNvPr id="47" name="Shape 45"/>
          <p:cNvSpPr/>
          <p:nvPr/>
        </p:nvSpPr>
        <p:spPr>
          <a:xfrm>
            <a:off x="429768" y="5020056"/>
            <a:ext cx="68580" cy="937260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" y="503834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(Internal + External):</a:t>
            </a:r>
            <a:endParaRPr lang="en-US" sz="860" dirty="0"/>
          </a:p>
        </p:txBody>
      </p:sp>
      <p:sp>
        <p:nvSpPr>
          <p:cNvPr id="49" name="Text 47"/>
          <p:cNvSpPr/>
          <p:nvPr/>
        </p:nvSpPr>
        <p:spPr>
          <a:xfrm>
            <a:off x="749808" y="522122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{{vn_capacity_summary}}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{{vn_capacity_detail}}</a:t>
            </a:r>
            <a:endParaRPr lang="en-US" sz="675" dirty="0"/>
          </a:p>
        </p:txBody>
      </p:sp>
      <p:sp>
        <p:nvSpPr>
          <p:cNvPr id="50" name="Shape 48"/>
          <p:cNvSpPr/>
          <p:nvPr/>
        </p:nvSpPr>
        <p:spPr>
          <a:xfrm>
            <a:off x="438912" y="6144768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6254496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438912" y="6464808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{{vn_source_note}}  •  Actuals: {{vn_actual_source_label}}  •  Forecast: {{vn_forecast_source_label}}  •  {{vn_period_label}}</a:t>
            </a:r>
            <a:endParaRPr lang="en-US" sz="670" dirty="0"/>
          </a:p>
        </p:txBody>
      </p:sp>
      <p:sp>
        <p:nvSpPr>
          <p:cNvPr id="53" name="Text 51"/>
          <p:cNvSpPr/>
          <p:nvPr/>
        </p:nvSpPr>
        <p:spPr>
          <a:xfrm>
            <a:off x="438912" y="6784848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6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{{vn_warnings}}</a:t>
            </a:r>
            <a:endParaRPr lang="en-US" sz="660" dirty="0"/>
          </a:p>
        </p:txBody>
      </p:sp>
      <p:sp>
        <p:nvSpPr>
          <p:cNvPr id="54" name="Text 52"/>
          <p:cNvSpPr/>
          <p:nvPr/>
        </p:nvSpPr>
        <p:spPr>
          <a:xfrm>
            <a:off x="9372600" y="7205472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{{vn_entity_label}}  •  Slide 3 of 4</a:t>
            </a:r>
            <a:endParaRPr lang="en-US" sz="58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{{report_month}}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8887968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NE-MX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46520" y="1627632"/>
            <a:ext cx="4956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29768" y="1938528"/>
            <a:ext cx="68580" cy="992124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/ Revenue: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{{mx_budget_revenue_summary}}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{{mx_budget_revenue_detail}}</a:t>
            </a:r>
            <a:endParaRPr lang="en-US" sz="675" dirty="0"/>
          </a:p>
        </p:txBody>
      </p:sp>
      <p:sp>
        <p:nvSpPr>
          <p:cNvPr id="41" name="Shape 39"/>
          <p:cNvSpPr/>
          <p:nvPr/>
        </p:nvSpPr>
        <p:spPr>
          <a:xfrm>
            <a:off x="429768" y="2990088"/>
            <a:ext cx="68580" cy="937260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Utilization:</a:t>
            </a:r>
            <a:endParaRPr lang="en-US" sz="860" dirty="0"/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{{mx_internal_utilization_summary}}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{{mx_internal_utilization_detail}}</a:t>
            </a:r>
            <a:endParaRPr lang="en-US" sz="675" dirty="0"/>
          </a:p>
        </p:txBody>
      </p:sp>
      <p:sp>
        <p:nvSpPr>
          <p:cNvPr id="44" name="Shape 42"/>
          <p:cNvSpPr/>
          <p:nvPr/>
        </p:nvSpPr>
        <p:spPr>
          <a:xfrm>
            <a:off x="429768" y="4005072"/>
            <a:ext cx="68580" cy="937260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" y="40233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Utilization: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749808" y="420624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{{mx_external_utilization_summary}}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{{mx_external_utilization_detail}}</a:t>
            </a:r>
            <a:endParaRPr lang="en-US" sz="675" dirty="0"/>
          </a:p>
        </p:txBody>
      </p:sp>
      <p:sp>
        <p:nvSpPr>
          <p:cNvPr id="47" name="Shape 45"/>
          <p:cNvSpPr/>
          <p:nvPr/>
        </p:nvSpPr>
        <p:spPr>
          <a:xfrm>
            <a:off x="429768" y="5020056"/>
            <a:ext cx="68580" cy="937260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" y="503834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(Internal + External):</a:t>
            </a:r>
            <a:endParaRPr lang="en-US" sz="860" dirty="0"/>
          </a:p>
        </p:txBody>
      </p:sp>
      <p:sp>
        <p:nvSpPr>
          <p:cNvPr id="49" name="Text 47"/>
          <p:cNvSpPr/>
          <p:nvPr/>
        </p:nvSpPr>
        <p:spPr>
          <a:xfrm>
            <a:off x="749808" y="522122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{{mx_capacity_summary}}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009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{{mx_capacity_detail}}</a:t>
            </a:r>
            <a:endParaRPr lang="en-US" sz="675" dirty="0"/>
          </a:p>
        </p:txBody>
      </p:sp>
      <p:sp>
        <p:nvSpPr>
          <p:cNvPr id="50" name="Shape 48"/>
          <p:cNvSpPr/>
          <p:nvPr/>
        </p:nvSpPr>
        <p:spPr>
          <a:xfrm>
            <a:off x="438912" y="6144768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6254496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438912" y="6464808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{{mx_source_note}}  •  Actuals: {{mx_actual_source_label}}  •  Forecast: {{mx_forecast_source_label}}  •  {{mx_period_label}}</a:t>
            </a:r>
            <a:endParaRPr lang="en-US" sz="670" dirty="0"/>
          </a:p>
        </p:txBody>
      </p:sp>
      <p:sp>
        <p:nvSpPr>
          <p:cNvPr id="53" name="Text 51"/>
          <p:cNvSpPr/>
          <p:nvPr/>
        </p:nvSpPr>
        <p:spPr>
          <a:xfrm>
            <a:off x="438912" y="6784848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6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{{mx_warnings}}</a:t>
            </a:r>
            <a:endParaRPr lang="en-US" sz="660" dirty="0"/>
          </a:p>
        </p:txBody>
      </p:sp>
      <p:sp>
        <p:nvSpPr>
          <p:cNvPr id="54" name="Text 52"/>
          <p:cNvSpPr/>
          <p:nvPr/>
        </p:nvSpPr>
        <p:spPr>
          <a:xfrm>
            <a:off x="9372600" y="7205472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{{mx_entity_label}}  •  Slide 4 of 4</a:t>
            </a:r>
            <a:endParaRPr lang="en-US" sz="58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Metrics KPI Report — Four Entity Template</dc:title>
  <dc:subject>Four-entity editable governed KPI Metrics PowerPoint template</dc:subject>
  <dc:creator>LedgerLM</dc:creator>
  <cp:lastModifiedBy>LedgerLM</cp:lastModifiedBy>
  <cp:revision>1</cp:revision>
  <dcterms:created xsi:type="dcterms:W3CDTF">2026-09-03T06:22:02Z</dcterms:created>
  <dcterms:modified xsi:type="dcterms:W3CDTF">2026-09-03T06:22:02Z</dcterms:modified>
</cp:coreProperties>
</file>