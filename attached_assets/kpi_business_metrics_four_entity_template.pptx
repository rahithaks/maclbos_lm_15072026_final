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8412480"/>
  <p:notesSz cx="841248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1874520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2D9E5"/>
          </a:solidFill>
          <a:ln w="12700">
            <a:solidFill>
              <a:srgbClr val="A8367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93392" y="1014984"/>
            <a:ext cx="420624" cy="274320"/>
          </a:xfrm>
          <a:prstGeom prst="ellipse">
            <a:avLst/>
          </a:prstGeom>
          <a:solidFill>
            <a:srgbClr val="00657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3704" y="1033272"/>
            <a:ext cx="0" cy="237744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48256" y="1152144"/>
            <a:ext cx="310896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96312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(WW)</a:t>
            </a:r>
            <a:endParaRPr lang="en-US" sz="730" dirty="0"/>
          </a:p>
        </p:txBody>
      </p:sp>
      <p:sp>
        <p:nvSpPr>
          <p:cNvPr id="18" name="Text 16"/>
          <p:cNvSpPr/>
          <p:nvPr/>
        </p:nvSpPr>
        <p:spPr>
          <a:xfrm>
            <a:off x="2496312" y="1197864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9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490" dirty="0"/>
          </a:p>
        </p:txBody>
      </p:sp>
      <p:sp>
        <p:nvSpPr>
          <p:cNvPr id="19" name="Shape 17"/>
          <p:cNvSpPr/>
          <p:nvPr/>
        </p:nvSpPr>
        <p:spPr>
          <a:xfrm>
            <a:off x="4005072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23944" y="1014984"/>
            <a:ext cx="420624" cy="9144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23944" y="1106424"/>
            <a:ext cx="420624" cy="9144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23944" y="1197864"/>
            <a:ext cx="420624" cy="91440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04812" y="1121969"/>
            <a:ext cx="58887" cy="60350"/>
          </a:xfrm>
          <a:prstGeom prst="ellipse">
            <a:avLst/>
          </a:prstGeom>
          <a:solidFill>
            <a:srgbClr val="F8F8F8">
              <a:alpha val="0"/>
            </a:srgbClr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6864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(IN)</a:t>
            </a:r>
            <a:endParaRPr lang="en-US" sz="730" dirty="0"/>
          </a:p>
        </p:txBody>
      </p:sp>
      <p:sp>
        <p:nvSpPr>
          <p:cNvPr id="25" name="Shape 23"/>
          <p:cNvSpPr/>
          <p:nvPr/>
        </p:nvSpPr>
        <p:spPr>
          <a:xfrm>
            <a:off x="6135624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4496" y="1014984"/>
            <a:ext cx="420624" cy="27432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4224" y="10561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D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57416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(VN)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8266176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85048" y="1014984"/>
            <a:ext cx="140208" cy="274320"/>
          </a:xfrm>
          <a:prstGeom prst="rect">
            <a:avLst/>
          </a:prstGeom>
          <a:solidFill>
            <a:srgbClr val="006847"/>
          </a:solidFill>
          <a:ln w="12700">
            <a:solidFill>
              <a:srgbClr val="00684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25256" y="1014984"/>
            <a:ext cx="140208" cy="27432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65464" y="1014984"/>
            <a:ext cx="140208" cy="274320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65916" y="1119226"/>
            <a:ext cx="58887" cy="65837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968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Mexico (MX)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329184" y="1536192"/>
            <a:ext cx="11539728" cy="624535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16184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 — World Wide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46520" y="1627632"/>
            <a:ext cx="4956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governed scope  •  Red: Phase 2 / out of scope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29768" y="1938528"/>
            <a:ext cx="68580" cy="772668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195681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9808" y="2139696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{{ww_budget_revenue_summary}}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{{ww_budget_revenue_detail}}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429768" y="2743200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2648" y="276148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749808" y="2944368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{{ww_internal_utilization_summary}}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{{ww_internal_utilization_detail}}</a:t>
            </a:r>
            <a:endParaRPr lang="en-US" sz="675" dirty="0"/>
          </a:p>
        </p:txBody>
      </p:sp>
      <p:sp>
        <p:nvSpPr>
          <p:cNvPr id="44" name="Shape 42"/>
          <p:cNvSpPr/>
          <p:nvPr/>
        </p:nvSpPr>
        <p:spPr>
          <a:xfrm>
            <a:off x="429768" y="3438144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" y="34564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49808" y="3639312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{{ww_external_utilization_summary}}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{{ww_external_utilization_detail}}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429768" y="4133088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415137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749808" y="4334256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{{ww_capacity_summary}}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{{ww_capacity_detail}}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429768" y="4828032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" y="484632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Attrition: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49808" y="5029200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{{ww_attrition_summary}}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{{ww_attrition_detail_or_phase_2_note}}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429768" y="5413248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54315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749808" y="5614416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{{ww_ebit_summary}}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{{ww_ebit_detail_or_phase_2_note}}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438912" y="6199632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" y="63093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438912" y="6519672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{{ww_source_note}}  •  Actuals: {{ww_actual_source_label}}  •  Forecast: {{ww_forecast_source_label}}  •  {{ww_period_label}}</a:t>
            </a:r>
            <a:endParaRPr lang="en-US" sz="670" dirty="0"/>
          </a:p>
        </p:txBody>
      </p:sp>
      <p:sp>
        <p:nvSpPr>
          <p:cNvPr id="59" name="Text 57"/>
          <p:cNvSpPr/>
          <p:nvPr/>
        </p:nvSpPr>
        <p:spPr>
          <a:xfrm>
            <a:off x="438912" y="6848856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{{ww_warnings}}</a:t>
            </a:r>
            <a:endParaRPr lang="en-US" sz="660" dirty="0"/>
          </a:p>
        </p:txBody>
      </p:sp>
      <p:sp>
        <p:nvSpPr>
          <p:cNvPr id="60" name="Text 58"/>
          <p:cNvSpPr/>
          <p:nvPr/>
        </p:nvSpPr>
        <p:spPr>
          <a:xfrm>
            <a:off x="9372600" y="7205472"/>
            <a:ext cx="22860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{{ww_entity_label}}  •  Slide 1 of 4</a:t>
            </a:r>
            <a:endParaRPr lang="en-US" sz="580" dirty="0"/>
          </a:p>
        </p:txBody>
      </p:sp>
      <p:sp>
        <p:nvSpPr>
          <p:cNvPr id="61" name="Shape 59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66" name="Text 64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1874520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93392" y="1014984"/>
            <a:ext cx="420624" cy="274320"/>
          </a:xfrm>
          <a:prstGeom prst="ellipse">
            <a:avLst/>
          </a:prstGeom>
          <a:solidFill>
            <a:srgbClr val="00657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3704" y="1033272"/>
            <a:ext cx="0" cy="237744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48256" y="1152144"/>
            <a:ext cx="310896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96312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(WW)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05072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2D9E5"/>
          </a:solidFill>
          <a:ln w="12700">
            <a:solidFill>
              <a:srgbClr val="A836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23944" y="1014984"/>
            <a:ext cx="420624" cy="9144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23944" y="1106424"/>
            <a:ext cx="420624" cy="9144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23944" y="1197864"/>
            <a:ext cx="420624" cy="91440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4812" y="1121969"/>
            <a:ext cx="58887" cy="60350"/>
          </a:xfrm>
          <a:prstGeom prst="ellipse">
            <a:avLst/>
          </a:prstGeom>
          <a:solidFill>
            <a:srgbClr val="F8F8F8">
              <a:alpha val="0"/>
            </a:srgbClr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(IN)</a:t>
            </a:r>
            <a:endParaRPr lang="en-US" sz="730" dirty="0"/>
          </a:p>
        </p:txBody>
      </p:sp>
      <p:sp>
        <p:nvSpPr>
          <p:cNvPr id="24" name="Text 22"/>
          <p:cNvSpPr/>
          <p:nvPr/>
        </p:nvSpPr>
        <p:spPr>
          <a:xfrm>
            <a:off x="4626864" y="1197864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9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490" dirty="0"/>
          </a:p>
        </p:txBody>
      </p:sp>
      <p:sp>
        <p:nvSpPr>
          <p:cNvPr id="25" name="Shape 23"/>
          <p:cNvSpPr/>
          <p:nvPr/>
        </p:nvSpPr>
        <p:spPr>
          <a:xfrm>
            <a:off x="6135624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4496" y="1014984"/>
            <a:ext cx="420624" cy="27432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64224" y="10561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D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757416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(VN)</a:t>
            </a:r>
            <a:endParaRPr lang="en-US" sz="730" dirty="0"/>
          </a:p>
        </p:txBody>
      </p:sp>
      <p:sp>
        <p:nvSpPr>
          <p:cNvPr id="29" name="Shape 27"/>
          <p:cNvSpPr/>
          <p:nvPr/>
        </p:nvSpPr>
        <p:spPr>
          <a:xfrm>
            <a:off x="8266176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85048" y="1014984"/>
            <a:ext cx="140208" cy="274320"/>
          </a:xfrm>
          <a:prstGeom prst="rect">
            <a:avLst/>
          </a:prstGeom>
          <a:solidFill>
            <a:srgbClr val="006847"/>
          </a:solidFill>
          <a:ln w="12700">
            <a:solidFill>
              <a:srgbClr val="00684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25256" y="1014984"/>
            <a:ext cx="140208" cy="27432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65464" y="1014984"/>
            <a:ext cx="140208" cy="274320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65916" y="1119226"/>
            <a:ext cx="58887" cy="65837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968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Mexico (MX)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329184" y="1536192"/>
            <a:ext cx="11539728" cy="624535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16184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 — BGSW India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46520" y="1627632"/>
            <a:ext cx="4956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governed scope  •  Red: Phase 2 / out of scope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29768" y="1938528"/>
            <a:ext cx="68580" cy="772668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195681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9808" y="2139696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{{in_budget_revenue_summary}}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{{in_budget_revenue_detail}}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429768" y="2743200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2648" y="276148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749808" y="2944368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{{in_internal_utilization_summary}}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{{in_internal_utilization_detail}}</a:t>
            </a:r>
            <a:endParaRPr lang="en-US" sz="675" dirty="0"/>
          </a:p>
        </p:txBody>
      </p:sp>
      <p:sp>
        <p:nvSpPr>
          <p:cNvPr id="44" name="Shape 42"/>
          <p:cNvSpPr/>
          <p:nvPr/>
        </p:nvSpPr>
        <p:spPr>
          <a:xfrm>
            <a:off x="429768" y="3438144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" y="34564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49808" y="3639312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{{in_external_utilization_summary}}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{{in_external_utilization_detail}}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429768" y="4133088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415137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749808" y="4334256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{{in_capacity_summary}}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{{in_capacity_detail}}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429768" y="4828032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" y="484632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Attrition: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49808" y="5029200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{{in_attrition_summary}}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{{in_attrition_detail_or_phase_2_note}}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429768" y="5413248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54315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749808" y="5614416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{{in_ebit_summary}}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{{in_ebit_detail_or_phase_2_note}}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438912" y="6199632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" y="63093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438912" y="6519672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{{in_source_note}}  •  Actuals: {{in_actual_source_label}}  •  Forecast: {{in_forecast_source_label}}  •  {{in_period_label}}</a:t>
            </a:r>
            <a:endParaRPr lang="en-US" sz="670" dirty="0"/>
          </a:p>
        </p:txBody>
      </p:sp>
      <p:sp>
        <p:nvSpPr>
          <p:cNvPr id="59" name="Text 57"/>
          <p:cNvSpPr/>
          <p:nvPr/>
        </p:nvSpPr>
        <p:spPr>
          <a:xfrm>
            <a:off x="438912" y="6848856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{{in_warnings}}</a:t>
            </a:r>
            <a:endParaRPr lang="en-US" sz="660" dirty="0"/>
          </a:p>
        </p:txBody>
      </p:sp>
      <p:sp>
        <p:nvSpPr>
          <p:cNvPr id="60" name="Text 58"/>
          <p:cNvSpPr/>
          <p:nvPr/>
        </p:nvSpPr>
        <p:spPr>
          <a:xfrm>
            <a:off x="9372600" y="7205472"/>
            <a:ext cx="22860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{{in_entity_label}}  •  Slide 2 of 4</a:t>
            </a:r>
            <a:endParaRPr lang="en-US" sz="580" dirty="0"/>
          </a:p>
        </p:txBody>
      </p:sp>
      <p:sp>
        <p:nvSpPr>
          <p:cNvPr id="61" name="Shape 59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66" name="Text 64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1874520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93392" y="1014984"/>
            <a:ext cx="420624" cy="274320"/>
          </a:xfrm>
          <a:prstGeom prst="ellipse">
            <a:avLst/>
          </a:prstGeom>
          <a:solidFill>
            <a:srgbClr val="00657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3704" y="1033272"/>
            <a:ext cx="0" cy="237744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48256" y="1152144"/>
            <a:ext cx="310896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96312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(WW)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05072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23944" y="1014984"/>
            <a:ext cx="420624" cy="9144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23944" y="1106424"/>
            <a:ext cx="420624" cy="9144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23944" y="1197864"/>
            <a:ext cx="420624" cy="91440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4812" y="1121969"/>
            <a:ext cx="58887" cy="60350"/>
          </a:xfrm>
          <a:prstGeom prst="ellipse">
            <a:avLst/>
          </a:prstGeom>
          <a:solidFill>
            <a:srgbClr val="F8F8F8">
              <a:alpha val="0"/>
            </a:srgbClr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(IN)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6135624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2D9E5"/>
          </a:solidFill>
          <a:ln w="12700">
            <a:solidFill>
              <a:srgbClr val="A8367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4496" y="1014984"/>
            <a:ext cx="420624" cy="27432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4224" y="10561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D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57416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(VN)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6757416" y="1197864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9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490" dirty="0"/>
          </a:p>
        </p:txBody>
      </p:sp>
      <p:sp>
        <p:nvSpPr>
          <p:cNvPr id="29" name="Shape 27"/>
          <p:cNvSpPr/>
          <p:nvPr/>
        </p:nvSpPr>
        <p:spPr>
          <a:xfrm>
            <a:off x="8266176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85048" y="1014984"/>
            <a:ext cx="140208" cy="274320"/>
          </a:xfrm>
          <a:prstGeom prst="rect">
            <a:avLst/>
          </a:prstGeom>
          <a:solidFill>
            <a:srgbClr val="006847"/>
          </a:solidFill>
          <a:ln w="12700">
            <a:solidFill>
              <a:srgbClr val="00684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25256" y="1014984"/>
            <a:ext cx="140208" cy="27432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65464" y="1014984"/>
            <a:ext cx="140208" cy="274320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65916" y="1119226"/>
            <a:ext cx="58887" cy="65837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87968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Mexico (MX)</a:t>
            </a:r>
            <a:endParaRPr lang="en-US" sz="730" dirty="0"/>
          </a:p>
        </p:txBody>
      </p:sp>
      <p:sp>
        <p:nvSpPr>
          <p:cNvPr id="35" name="Shape 33"/>
          <p:cNvSpPr/>
          <p:nvPr/>
        </p:nvSpPr>
        <p:spPr>
          <a:xfrm>
            <a:off x="329184" y="1536192"/>
            <a:ext cx="11539728" cy="624535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16184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 — BGSV Vietnam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46520" y="1627632"/>
            <a:ext cx="4956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governed scope  •  Red: Phase 2 / out of scope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29768" y="1938528"/>
            <a:ext cx="68580" cy="772668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195681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9808" y="2139696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{{vn_budget_revenue_summary}}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{{vn_budget_revenue_detail}}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429768" y="2743200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2648" y="276148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749808" y="2944368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{{vn_internal_utilization_summary}}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{{vn_internal_utilization_detail}}</a:t>
            </a:r>
            <a:endParaRPr lang="en-US" sz="675" dirty="0"/>
          </a:p>
        </p:txBody>
      </p:sp>
      <p:sp>
        <p:nvSpPr>
          <p:cNvPr id="44" name="Shape 42"/>
          <p:cNvSpPr/>
          <p:nvPr/>
        </p:nvSpPr>
        <p:spPr>
          <a:xfrm>
            <a:off x="429768" y="3438144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" y="34564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49808" y="3639312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{{vn_external_utilization_summary}}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{{vn_external_utilization_detail}}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429768" y="4133088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415137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749808" y="4334256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{{vn_capacity_summary}}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{{vn_capacity_detail}}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429768" y="4828032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" y="484632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Attrition: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49808" y="5029200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{{vn_attrition_summary}}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{{vn_attrition_detail_or_phase_2_note}}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429768" y="5413248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54315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749808" y="5614416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{{vn_ebit_summary}}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{{vn_ebit_detail_or_phase_2_note}}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438912" y="6199632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" y="63093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438912" y="6519672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{{vn_source_note}}  •  Actuals: {{vn_actual_source_label}}  •  Forecast: {{vn_forecast_source_label}}  •  {{vn_period_label}}</a:t>
            </a:r>
            <a:endParaRPr lang="en-US" sz="670" dirty="0"/>
          </a:p>
        </p:txBody>
      </p:sp>
      <p:sp>
        <p:nvSpPr>
          <p:cNvPr id="59" name="Text 57"/>
          <p:cNvSpPr/>
          <p:nvPr/>
        </p:nvSpPr>
        <p:spPr>
          <a:xfrm>
            <a:off x="438912" y="6848856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{{vn_warnings}}</a:t>
            </a:r>
            <a:endParaRPr lang="en-US" sz="660" dirty="0"/>
          </a:p>
        </p:txBody>
      </p:sp>
      <p:sp>
        <p:nvSpPr>
          <p:cNvPr id="60" name="Text 58"/>
          <p:cNvSpPr/>
          <p:nvPr/>
        </p:nvSpPr>
        <p:spPr>
          <a:xfrm>
            <a:off x="9372600" y="7205472"/>
            <a:ext cx="22860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{{vn_entity_label}}  •  Slide 3 of 4</a:t>
            </a:r>
            <a:endParaRPr lang="en-US" sz="580" dirty="0"/>
          </a:p>
        </p:txBody>
      </p:sp>
      <p:sp>
        <p:nvSpPr>
          <p:cNvPr id="61" name="Shape 59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66" name="Text 64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2011680" cy="50292"/>
          </a:xfrm>
          <a:prstGeom prst="rect">
            <a:avLst/>
          </a:prstGeom>
          <a:solidFill>
            <a:srgbClr val="A83678"/>
          </a:solidFill>
          <a:ln w="12700">
            <a:solidFill>
              <a:srgbClr val="A83678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11680" y="82296"/>
            <a:ext cx="2468880" cy="50292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480560" y="82296"/>
            <a:ext cx="2834640" cy="50292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82296"/>
            <a:ext cx="2103120" cy="50292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18320" y="82296"/>
            <a:ext cx="2773375" cy="5029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1051560" y="146304"/>
            <a:ext cx="6309360" cy="269748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0" y="182880"/>
            <a:ext cx="6309360" cy="2971800"/>
          </a:xfrm>
          <a:prstGeom prst="arc">
            <a:avLst/>
          </a:prstGeom>
          <a:solidFill>
            <a:srgbClr val="F6EFF3">
              <a:alpha val="72000"/>
            </a:srgbClr>
          </a:solidFill>
          <a:ln w="12700">
            <a:solidFill>
              <a:srgbClr val="F6EFF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301752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500" b="1" i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Metrics {{report_month}}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10853928" y="274320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750" dirty="0"/>
          </a:p>
          <a:p>
            <a:pPr algn="l" indent="0" marL="0">
              <a:buNone/>
            </a:pPr>
            <a:r>
              <a:rPr lang="en-US" sz="7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853928" y="786384"/>
            <a:ext cx="9875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6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future-ready.</a:t>
            </a:r>
            <a:endParaRPr lang="en-US" sz="460" dirty="0"/>
          </a:p>
        </p:txBody>
      </p:sp>
      <p:sp>
        <p:nvSpPr>
          <p:cNvPr id="13" name="Shape 11"/>
          <p:cNvSpPr/>
          <p:nvPr/>
        </p:nvSpPr>
        <p:spPr>
          <a:xfrm>
            <a:off x="1874520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93392" y="1014984"/>
            <a:ext cx="420624" cy="274320"/>
          </a:xfrm>
          <a:prstGeom prst="ellipse">
            <a:avLst/>
          </a:prstGeom>
          <a:solidFill>
            <a:srgbClr val="00657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03704" y="1033272"/>
            <a:ext cx="0" cy="237744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48256" y="1152144"/>
            <a:ext cx="310896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96312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(WW)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4005072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23944" y="1014984"/>
            <a:ext cx="420624" cy="91440"/>
          </a:xfrm>
          <a:prstGeom prst="rect">
            <a:avLst/>
          </a:prstGeom>
          <a:solidFill>
            <a:srgbClr val="FF9933"/>
          </a:solidFill>
          <a:ln w="12700">
            <a:solidFill>
              <a:srgbClr val="FF99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23944" y="1106424"/>
            <a:ext cx="420624" cy="9144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23944" y="1197864"/>
            <a:ext cx="420624" cy="91440"/>
          </a:xfrm>
          <a:prstGeom prst="rect">
            <a:avLst/>
          </a:prstGeom>
          <a:solidFill>
            <a:srgbClr val="138808"/>
          </a:solidFill>
          <a:ln w="12700">
            <a:solidFill>
              <a:srgbClr val="138808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04812" y="1121969"/>
            <a:ext cx="58887" cy="60350"/>
          </a:xfrm>
          <a:prstGeom prst="ellipse">
            <a:avLst/>
          </a:prstGeom>
          <a:solidFill>
            <a:srgbClr val="F8F8F8">
              <a:alpha val="0"/>
            </a:srgbClr>
          </a:solidFill>
          <a:ln w="12700">
            <a:solidFill>
              <a:srgbClr val="000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(IN)</a:t>
            </a:r>
            <a:endParaRPr lang="en-US" sz="730" dirty="0"/>
          </a:p>
        </p:txBody>
      </p:sp>
      <p:sp>
        <p:nvSpPr>
          <p:cNvPr id="24" name="Shape 22"/>
          <p:cNvSpPr/>
          <p:nvPr/>
        </p:nvSpPr>
        <p:spPr>
          <a:xfrm>
            <a:off x="6135624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B8B8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4496" y="1014984"/>
            <a:ext cx="420624" cy="27432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64224" y="1056132"/>
            <a:ext cx="2011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7D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57416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303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Vietnam (VN)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8266176" y="905256"/>
            <a:ext cx="1920240" cy="493776"/>
          </a:xfrm>
          <a:prstGeom prst="roundRect">
            <a:avLst>
              <a:gd name="adj" fmla="val 9259"/>
            </a:avLst>
          </a:prstGeom>
          <a:solidFill>
            <a:srgbClr val="F2D9E5"/>
          </a:solidFill>
          <a:ln w="12700">
            <a:solidFill>
              <a:srgbClr val="A836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85048" y="1014984"/>
            <a:ext cx="140208" cy="274320"/>
          </a:xfrm>
          <a:prstGeom prst="rect">
            <a:avLst/>
          </a:prstGeom>
          <a:solidFill>
            <a:srgbClr val="006847"/>
          </a:solidFill>
          <a:ln w="12700">
            <a:solidFill>
              <a:srgbClr val="00684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25256" y="1014984"/>
            <a:ext cx="140208" cy="274320"/>
          </a:xfrm>
          <a:prstGeom prst="rect">
            <a:avLst/>
          </a:prstGeom>
          <a:solidFill>
            <a:srgbClr val="F8F8F8"/>
          </a:solidFill>
          <a:ln w="12700">
            <a:solidFill>
              <a:srgbClr val="F8F8F8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65464" y="1014984"/>
            <a:ext cx="140208" cy="274320"/>
          </a:xfrm>
          <a:prstGeom prst="rect">
            <a:avLst/>
          </a:prstGeom>
          <a:solidFill>
            <a:srgbClr val="CE1126"/>
          </a:solidFill>
          <a:ln w="12700">
            <a:solidFill>
              <a:srgbClr val="CE1126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565916" y="1119226"/>
            <a:ext cx="58887" cy="65837"/>
          </a:xfrm>
          <a:prstGeom prst="ellipse">
            <a:avLst/>
          </a:prstGeom>
          <a:solidFill>
            <a:srgbClr val="8B5A2B"/>
          </a:solidFill>
          <a:ln w="12700">
            <a:solidFill>
              <a:srgbClr val="8B5A2B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87968" y="1024128"/>
            <a:ext cx="11704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Mexico (MX)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8887968" y="1197864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9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490" dirty="0"/>
          </a:p>
        </p:txBody>
      </p:sp>
      <p:sp>
        <p:nvSpPr>
          <p:cNvPr id="35" name="Shape 33"/>
          <p:cNvSpPr/>
          <p:nvPr/>
        </p:nvSpPr>
        <p:spPr>
          <a:xfrm>
            <a:off x="329184" y="1536192"/>
            <a:ext cx="11539728" cy="6245352"/>
          </a:xfrm>
          <a:prstGeom prst="rect">
            <a:avLst/>
          </a:prstGeom>
          <a:solidFill>
            <a:srgbClr val="D9D9D9"/>
          </a:solidFill>
          <a:ln w="12700">
            <a:solidFill>
              <a:srgbClr val="777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1618488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A836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/ info to GLs — NE-MX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446520" y="1627632"/>
            <a:ext cx="4956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governed scope  •  Red: Phase 2 / out of scope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29768" y="1938528"/>
            <a:ext cx="68580" cy="772668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195681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/ Revenue: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749808" y="2139696"/>
            <a:ext cx="10716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{{mx_budget_revenue_summary}}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{{mx_budget_revenue_detail}}</a:t>
            </a:r>
            <a:endParaRPr lang="en-US" sz="675" dirty="0"/>
          </a:p>
        </p:txBody>
      </p:sp>
      <p:sp>
        <p:nvSpPr>
          <p:cNvPr id="41" name="Shape 39"/>
          <p:cNvSpPr/>
          <p:nvPr/>
        </p:nvSpPr>
        <p:spPr>
          <a:xfrm>
            <a:off x="429768" y="2743200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2648" y="276148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Utilization: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749808" y="2944368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{{mx_internal_utilization_summary}}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{{mx_internal_utilization_detail}}</a:t>
            </a:r>
            <a:endParaRPr lang="en-US" sz="675" dirty="0"/>
          </a:p>
        </p:txBody>
      </p:sp>
      <p:sp>
        <p:nvSpPr>
          <p:cNvPr id="44" name="Shape 42"/>
          <p:cNvSpPr/>
          <p:nvPr/>
        </p:nvSpPr>
        <p:spPr>
          <a:xfrm>
            <a:off x="429768" y="3438144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" y="3456432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Utilization: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749808" y="3639312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{{mx_external_utilization_summary}}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{{mx_external_utilization_detail}}</a:t>
            </a:r>
            <a:endParaRPr lang="en-US" sz="675" dirty="0"/>
          </a:p>
        </p:txBody>
      </p:sp>
      <p:sp>
        <p:nvSpPr>
          <p:cNvPr id="47" name="Shape 45"/>
          <p:cNvSpPr/>
          <p:nvPr/>
        </p:nvSpPr>
        <p:spPr>
          <a:xfrm>
            <a:off x="429768" y="4133088"/>
            <a:ext cx="68580" cy="662940"/>
          </a:xfrm>
          <a:prstGeom prst="rect">
            <a:avLst/>
          </a:prstGeom>
          <a:solidFill>
            <a:srgbClr val="009B76"/>
          </a:solidFill>
          <a:ln w="12700">
            <a:solidFill>
              <a:srgbClr val="009B76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" y="415137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(Internal + External):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749808" y="4334256"/>
            <a:ext cx="10716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{{mx_capacity_summary}}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009B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{{mx_capacity_detail}}</a:t>
            </a:r>
            <a:endParaRPr lang="en-US" sz="675" dirty="0"/>
          </a:p>
        </p:txBody>
      </p:sp>
      <p:sp>
        <p:nvSpPr>
          <p:cNvPr id="50" name="Shape 48"/>
          <p:cNvSpPr/>
          <p:nvPr/>
        </p:nvSpPr>
        <p:spPr>
          <a:xfrm>
            <a:off x="429768" y="4828032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2648" y="484632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Attrition: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749808" y="5029200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{{mx_attrition_summary}}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{{mx_attrition_detail_or_phase_2_note}}</a:t>
            </a:r>
            <a:endParaRPr lang="en-US" sz="675" dirty="0"/>
          </a:p>
        </p:txBody>
      </p:sp>
      <p:sp>
        <p:nvSpPr>
          <p:cNvPr id="53" name="Shape 51"/>
          <p:cNvSpPr/>
          <p:nvPr/>
        </p:nvSpPr>
        <p:spPr>
          <a:xfrm>
            <a:off x="429768" y="5413248"/>
            <a:ext cx="68580" cy="553212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2648" y="54315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60" b="1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EBIT:</a:t>
            </a:r>
            <a:endParaRPr lang="en-US" sz="860" dirty="0"/>
          </a:p>
        </p:txBody>
      </p:sp>
      <p:sp>
        <p:nvSpPr>
          <p:cNvPr id="55" name="Text 53"/>
          <p:cNvSpPr/>
          <p:nvPr/>
        </p:nvSpPr>
        <p:spPr>
          <a:xfrm>
            <a:off x="749808" y="5614416"/>
            <a:ext cx="1071676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{{mx_ebit_summary}}</a:t>
            </a:r>
            <a:endParaRPr lang="en-US" sz="675" dirty="0"/>
          </a:p>
          <a:p>
            <a:pPr indent="0" marL="0">
              <a:buNone/>
            </a:pPr>
            <a:r>
              <a:rPr lang="en-US" sz="675" dirty="0">
                <a:solidFill>
                  <a:srgbClr val="D9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{{mx_ebit_detail_or_phase_2_note}}</a:t>
            </a:r>
            <a:endParaRPr lang="en-US" sz="675" dirty="0"/>
          </a:p>
        </p:txBody>
      </p:sp>
      <p:sp>
        <p:nvSpPr>
          <p:cNvPr id="56" name="Shape 54"/>
          <p:cNvSpPr/>
          <p:nvPr/>
        </p:nvSpPr>
        <p:spPr>
          <a:xfrm>
            <a:off x="438912" y="6199632"/>
            <a:ext cx="11283696" cy="0"/>
          </a:xfrm>
          <a:prstGeom prst="line">
            <a:avLst/>
          </a:prstGeom>
          <a:noFill/>
          <a:ln w="12700">
            <a:solidFill>
              <a:srgbClr val="AFAFA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8912" y="6309360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40" b="1" dirty="0">
                <a:solidFill>
                  <a:srgbClr val="8C24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&amp; governance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438912" y="6519672"/>
            <a:ext cx="11228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{{mx_source_note}}  •  Actuals: {{mx_actual_source_label}}  •  Forecast: {{mx_forecast_source_label}}  •  {{mx_period_label}}</a:t>
            </a:r>
            <a:endParaRPr lang="en-US" sz="670" dirty="0"/>
          </a:p>
        </p:txBody>
      </p:sp>
      <p:sp>
        <p:nvSpPr>
          <p:cNvPr id="59" name="Text 57"/>
          <p:cNvSpPr/>
          <p:nvPr/>
        </p:nvSpPr>
        <p:spPr>
          <a:xfrm>
            <a:off x="438912" y="6848856"/>
            <a:ext cx="11228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" i="1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Warnings / data-quality notes: {{mx_warnings}}</a:t>
            </a:r>
            <a:endParaRPr lang="en-US" sz="660" dirty="0"/>
          </a:p>
        </p:txBody>
      </p:sp>
      <p:sp>
        <p:nvSpPr>
          <p:cNvPr id="60" name="Text 58"/>
          <p:cNvSpPr/>
          <p:nvPr/>
        </p:nvSpPr>
        <p:spPr>
          <a:xfrm>
            <a:off x="9372600" y="7205472"/>
            <a:ext cx="22860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6262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{{mx_entity_label}}  •  Slide 4 of 4</a:t>
            </a:r>
            <a:endParaRPr lang="en-US" sz="580" dirty="0"/>
          </a:p>
        </p:txBody>
      </p:sp>
      <p:sp>
        <p:nvSpPr>
          <p:cNvPr id="61" name="Shape 59"/>
          <p:cNvSpPr/>
          <p:nvPr/>
        </p:nvSpPr>
        <p:spPr>
          <a:xfrm>
            <a:off x="0" y="8001000"/>
            <a:ext cx="4572000" cy="411480"/>
          </a:xfrm>
          <a:prstGeom prst="rect">
            <a:avLst/>
          </a:prstGeom>
          <a:solidFill>
            <a:srgbClr val="006578"/>
          </a:solidFill>
          <a:ln w="12700">
            <a:solidFill>
              <a:srgbClr val="006578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572000" y="8001000"/>
            <a:ext cx="2194560" cy="411480"/>
          </a:xfrm>
          <a:prstGeom prst="rect">
            <a:avLst/>
          </a:prstGeom>
          <a:solidFill>
            <a:srgbClr val="D9192B"/>
          </a:solidFill>
          <a:ln w="12700">
            <a:solidFill>
              <a:srgbClr val="D9192B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6560" y="8001000"/>
            <a:ext cx="2377440" cy="41148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44000" y="8001000"/>
            <a:ext cx="3047695" cy="411480"/>
          </a:xfrm>
          <a:prstGeom prst="rect">
            <a:avLst/>
          </a:prstGeom>
          <a:solidFill>
            <a:srgbClr val="F08A21"/>
          </a:solidFill>
          <a:ln w="12700">
            <a:solidFill>
              <a:srgbClr val="F08A21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02336" y="8129016"/>
            <a:ext cx="5212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| Governed Enterprise Data | KPI Metrics Board</a:t>
            </a:r>
            <a:endParaRPr lang="en-US" sz="550" dirty="0"/>
          </a:p>
        </p:txBody>
      </p:sp>
      <p:sp>
        <p:nvSpPr>
          <p:cNvPr id="66" name="Text 64"/>
          <p:cNvSpPr/>
          <p:nvPr/>
        </p:nvSpPr>
        <p:spPr>
          <a:xfrm>
            <a:off x="10735056" y="808329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BOSCH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LedgerLM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Business Metrics KPI Report — Four Entity Template</dc:title>
  <dc:subject>Four-entity editable governed KPI Metrics PowerPoint template</dc:subject>
  <dc:creator>LedgerLM</dc:creator>
  <cp:lastModifiedBy>LedgerLM</cp:lastModifiedBy>
  <cp:revision>1</cp:revision>
  <dcterms:created xsi:type="dcterms:W3CDTF">2026-09-02T11:24:14Z</dcterms:created>
  <dcterms:modified xsi:type="dcterms:W3CDTF">2026-09-02T11:24:14Z</dcterms:modified>
</cp:coreProperties>
</file>