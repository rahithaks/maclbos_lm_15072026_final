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8412480"/>
  <p:notesSz cx="841248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2024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Jul 2025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960120"/>
            <a:ext cx="914400" cy="45720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789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36192" y="10058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 (Global)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36192" y="12801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Wide · YTD Forecast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" y="1664208"/>
            <a:ext cx="11539728" cy="5166360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38528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965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Revenue: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23113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36.4 mUSD   •   Forecast 953 mUSD   •   Variance -916.6 mUSD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96112" y="2459736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30 mUSD / F 662.5 mUSD   •   MM: A 8.3 mUSD / F —   •   SDS: A -9.7 mUSD / F —   •   MS-External: A -0.8 mUSD / F 58.4 mUSD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044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Utilization: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31012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89.8%   •   Forecast —   •   Variance —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96112" y="353872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95.5% / F —   •   MM: A 77.9% / F —   •   SDS: A 59.6% / F —   •   MS-External: A 69.7% / F —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96112" y="37673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Prior-year YTD actual —   •   Previous-month YTD actual 89.6%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502920" y="4096512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123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Utilization: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" y="438912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63.3%   •   Forecast —   •   Variance —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896112" y="461772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63.5% / F —   •   MM: A 46.3% / F —   •   SDS: A 52.7% / F —   •   MS-External: A 0.0% / F —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96112" y="484632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Prior-year YTD actual —   •   Previous-month YTD actual 62.1%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02920" y="5175504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5202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(Internal + External):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96112" y="546811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2,944.3 HC   •   Forecast 33,327.9 HC   •   Variance -30,383.6 HC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96112" y="569671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1,467.5 HC / F 21,462.9 HC   •   MM: A 575.9 HC / F —   •   SDS: A 212.2 HC / F —   •   MS-External: A — / F 1,983.2 HC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438912" y="705916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Actuals: Anaplan actuals · unversioned actual export rows  •  Forecast: MBR workbook · YTD Forecast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438912" y="733348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Warnings: Internal Utilization: no MBR forecast rows for this period, scenario, and entity scope. • External Utilization: no MBR forecast rows for this period, scenario, and entity scope.</a:t>
            </a:r>
            <a:endParaRPr lang="en-US" sz="640" dirty="0"/>
          </a:p>
        </p:txBody>
      </p:sp>
      <p:sp>
        <p:nvSpPr>
          <p:cNvPr id="29" name="Text 27"/>
          <p:cNvSpPr/>
          <p:nvPr/>
        </p:nvSpPr>
        <p:spPr>
          <a:xfrm>
            <a:off x="438912" y="78821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governed scope only · EBIT, Capex, attrition and red commentary excluded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729C"/>
          </a:solidFill>
          <a:ln w="12700">
            <a:solidFill>
              <a:srgbClr val="D8729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2024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Jul 2025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960120"/>
            <a:ext cx="914400" cy="457200"/>
          </a:xfrm>
          <a:prstGeom prst="rect">
            <a:avLst/>
          </a:prstGeom>
          <a:solidFill>
            <a:srgbClr val="D8729C"/>
          </a:solidFill>
          <a:ln w="12700">
            <a:solidFill>
              <a:srgbClr val="D872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789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36192" y="10058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India (BGSW)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36192" y="12801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BGSW · YTD Forecast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" y="1664208"/>
            <a:ext cx="11539728" cy="5166360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38528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965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Revenue: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23113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28.1 mUSD   •   Forecast 790.4 mUSD   •   Variance -762.3 mUSD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96112" y="2459736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24.5 mUSD / F 553.5 mUSD   •   MM: A 7 mUSD / F 37.4 mUSD   •   SDS: A -9.7 mUSD / F —   •   MS-External: A -0.8 mUSD / F 45.2 mUSD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044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Utilization: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31012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89.3%   •   Forecast 93.0%   •   Variance -3.7%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96112" y="353872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95.5% / F 93.0%   •   MM: A 77.1% / F 95.0%   •   SDS: A 59.3% / F —   •   MS-External: A 69.7% / F 95.0%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96112" y="37673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Prior-year YTD actual —   •   Previous-month YTD actual 89.1%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502920" y="4096512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123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Utilization: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" y="438912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62.7%   •   Forecast 100.0%   •   Variance -37.3%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896112" y="461772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61.7% / F 100.0%   •   MM: A 41.8% / F 100.0%   •   SDS: A 52.4% / F —   •   MS-External: A 0.0% / F 100.0%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96112" y="484632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Prior-year YTD actual —   •   Previous-month YTD actual 61.5%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02920" y="5175504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5202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(Internal + External):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96112" y="546811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2,534.8 HC   •   Forecast 28,299.5 HC   •   Variance -25,764.8 HC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96112" y="569671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1,246.3 HC / F 18,248.3 HC   •   MM: A 480.7 HC / F 1,795.2 HC   •   SDS: A 205.7 HC / F —   •   MS-External: A — / F 1,602.6 HC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438912" y="705916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Actuals: Anaplan actuals · unversioned actual export rows  •  Forecast: MBR workbook · YTD Forecast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438912" y="733348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Warnings: Internal Utilization: no MBR forecast rows for this period, scenario, and entity scope. • External Utilization: no MBR forecast rows for this period, scenario, and entity scope.</a:t>
            </a:r>
            <a:endParaRPr lang="en-US" sz="640" dirty="0"/>
          </a:p>
        </p:txBody>
      </p:sp>
      <p:sp>
        <p:nvSpPr>
          <p:cNvPr id="29" name="Text 27"/>
          <p:cNvSpPr/>
          <p:nvPr/>
        </p:nvSpPr>
        <p:spPr>
          <a:xfrm>
            <a:off x="438912" y="78821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governed scope only · EBIT, Capex, attrition and red commentary excluded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2024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Jul 2025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960120"/>
            <a:ext cx="914400" cy="45720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789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36192" y="10058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Vietnam (BGSV)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36192" y="12801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BGSV · YTD Forecast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" y="1664208"/>
            <a:ext cx="11539728" cy="5166360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38528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965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Revenue: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23113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6.4 mUSD   •   Forecast 110.8 mUSD   •   Variance -104.5 mUSD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96112" y="2459736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4.3 mUSD / F 73.9 mUSD   •   MM: A 1.4 mUSD / F —   •   SDS: A 0 mUSD / F —   •   MS-External: A — / F 6.2 mUSD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044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Utilization: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31012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91.9%   •   Forecast 94.9%   •   Variance -3.0%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96112" y="353872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95.5% / F 94.9%   •   MM: A 82.3% / F —   •   SDS: A 68.0% / F —   •   MS-External: A — / F 95.9%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96112" y="37673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Prior-year YTD actual —   •   Previous-month YTD actual 92.0%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502920" y="4096512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123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Utilization: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" y="438912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69.3%   •   Forecast 98.1%   •   Variance -28.8%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896112" y="461772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78.2% / F 98.1%   •   MM: A 78.9% / F —   •   MS-External: A — / F 100.0%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96112" y="484632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Prior-year YTD actual —   •   Previous-month YTD actual 67.9%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02920" y="5175504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5202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(Internal + External):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96112" y="546811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354.5 HC   •   Forecast 4,069.2 HC   •   Variance -3,714.7 HC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96112" y="569671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190.5 HC / F 2,544.1 HC   •   MM: A 95.2 HC / F —   •   SDS: A 6.5 HC / F —   •   MS-External: A — / F 225.9 HC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438912" y="705916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Actuals: Anaplan actuals · unversioned actual export rows  •  Forecast: MBR workbook · YTD Forecast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438912" y="733348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Warnings: Internal Utilization: no MBR forecast rows for this period, scenario, and entity scope. • External Utilization: no MBR forecast rows for this period, scenario, and entity scope.</a:t>
            </a:r>
            <a:endParaRPr lang="en-US" sz="640" dirty="0"/>
          </a:p>
        </p:txBody>
      </p:sp>
      <p:sp>
        <p:nvSpPr>
          <p:cNvPr id="29" name="Text 27"/>
          <p:cNvSpPr/>
          <p:nvPr/>
        </p:nvSpPr>
        <p:spPr>
          <a:xfrm>
            <a:off x="438912" y="78821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governed scope only · EBIT, Capex, attrition and red commentary excluded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9A587"/>
          </a:solidFill>
          <a:ln w="12700">
            <a:solidFill>
              <a:srgbClr val="59A58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2024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Jul 2025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960120"/>
            <a:ext cx="914400" cy="457200"/>
          </a:xfrm>
          <a:prstGeom prst="rect">
            <a:avLst/>
          </a:prstGeom>
          <a:solidFill>
            <a:srgbClr val="59A587"/>
          </a:solidFill>
          <a:ln w="12700">
            <a:solidFill>
              <a:srgbClr val="59A58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789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36192" y="10058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Mexico (NE-MX)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36192" y="12801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NE-MX · YTD Forecast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" y="1664208"/>
            <a:ext cx="11539728" cy="5166360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38528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965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Revenue: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23113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1.9 mUSD   •   Forecast 32.3 mUSD   •   Variance -30.4 mUSD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96112" y="2459736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1.2 mUSD / F 26.2 mUSD   •   SDS: A 0 mUSD / F —   •   MS-External: A — / F 4.8 mUSD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044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Utilization: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31012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96.0%   •   Forecast 92.0%   •   Variance 4.0%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96112" y="353872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94.8% / F 92.0%   •   SDS: A 54.5% / F —   •   MS-External: A — / F 95.3%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96112" y="37673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Prior-year YTD actual —   •   Previous-month YTD actual 94.7%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502920" y="4096512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123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Utilization: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" y="438912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0.0%   •   Forecast 0.0%   •   Variance 0.0%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896112" y="461772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— / F 0.0%   •   SDS: A 0.0% / F —   •   MS-External: A — / F 0.0%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96112" y="484632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Prior-year YTD actual —   •   Previous-month YTD actual 0.0%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02920" y="5175504"/>
            <a:ext cx="73152" cy="94183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5202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(Internal + External):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96112" y="546811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74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55.1 HC   •   Forecast 687.7 HC   •   Variance -632.6 HC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96112" y="569671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1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MS: A 30.7 HC / F 541.5 HC   •   MS-External: A — / F 126.2 HC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438912" y="705916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Actuals: Anaplan actuals · unversioned actual export rows  •  Forecast: MBR workbook · YTD Forecast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438912" y="733348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Warnings: Internal Utilization: no MBR forecast rows for this period, scenario, and entity scope. • External Utilization: no MBR forecast rows for this period, scenario, and entity scope.</a:t>
            </a:r>
            <a:endParaRPr lang="en-US" sz="640" dirty="0"/>
          </a:p>
        </p:txBody>
      </p:sp>
      <p:sp>
        <p:nvSpPr>
          <p:cNvPr id="29" name="Text 27"/>
          <p:cNvSpPr/>
          <p:nvPr/>
        </p:nvSpPr>
        <p:spPr>
          <a:xfrm>
            <a:off x="438912" y="78821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0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governed scope only · EBIT, Capex, attrition and red commentary excluded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2026-09-02T12:45:51Z</dcterms:created>
  <dcterms:modified xsi:type="dcterms:W3CDTF">2026-09-02T12:45:51Z</dcterms:modified>
</cp:coreProperties>
</file>