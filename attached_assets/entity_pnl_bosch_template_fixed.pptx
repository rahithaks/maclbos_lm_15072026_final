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H1'26 – YoY : June'26 v June'25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P&amp;L Analysis · {{entity}}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20840" y="7315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in mINR · {{comparison_label}}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62288" y="7315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{{as_of_month}}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424160" y="7315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{{currency}}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170432"/>
          <a:ext cx="5504688" cy="4892040"/>
        </p:xfrm>
        <a:graphic>
          <a:graphicData uri="http://schemas.openxmlformats.org/drawingml/2006/table">
            <a:tbl>
              <a:tblPr/>
              <a:tblGrid>
                <a:gridCol w="1572768"/>
                <a:gridCol w="585216"/>
                <a:gridCol w="585216"/>
                <a:gridCol w="658368"/>
                <a:gridCol w="658368"/>
                <a:gridCol w="658368"/>
                <a:gridCol w="420624"/>
              </a:tblGrid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BGSW India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 2025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CF05 2026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YTD06 2026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YTD06 2025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 Benefits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Outsourcing Cost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Consultancy Charges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 Charges &amp; Other revenue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Facilities Cost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Expenses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Expenses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EBIT% of TNS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capacity outsourcing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capacity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End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Capacity overall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Capacity outsourcing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Average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{{value}}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{{pct}}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36208" y="1143000"/>
            <a:ext cx="5413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Driven by the below key factors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236208" y="141732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740" dirty="0"/>
          </a:p>
        </p:txBody>
      </p:sp>
      <p:sp>
        <p:nvSpPr>
          <p:cNvPr id="10" name="Text 7"/>
          <p:cNvSpPr/>
          <p:nvPr/>
        </p:nvSpPr>
        <p:spPr>
          <a:xfrm>
            <a:off x="7562088" y="1408176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Rate increase +1%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Favorable forex impact +8%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 &amp; Utilization impact -9%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Non-Effort based billing +2%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(rate increase INR 86/USD to INR 91.3/USD) – gain of 8%.</a:t>
            </a:r>
            <a:endParaRPr lang="en-US" sz="630" dirty="0"/>
          </a:p>
        </p:txBody>
      </p:sp>
      <p:sp>
        <p:nvSpPr>
          <p:cNvPr id="11" name="Text 8"/>
          <p:cNvSpPr/>
          <p:nvPr/>
        </p:nvSpPr>
        <p:spPr>
          <a:xfrm>
            <a:off x="6236208" y="193852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benefits</a:t>
            </a:r>
            <a:endParaRPr lang="en-US" sz="740" dirty="0"/>
          </a:p>
        </p:txBody>
      </p:sp>
      <p:sp>
        <p:nvSpPr>
          <p:cNvPr id="12" name="Text 9"/>
          <p:cNvSpPr/>
          <p:nvPr/>
        </p:nvSpPr>
        <p:spPr>
          <a:xfrm>
            <a:off x="7562088" y="1929384"/>
            <a:ext cx="4087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benefit increase is primarily on account of: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 &amp; Pyramid mix -9.7%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CSR impact -21.3%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IRR impact including factor change +9.9%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Restructuring / debt factor like -4.2%</a:t>
            </a:r>
            <a:endParaRPr lang="en-US" sz="630" dirty="0"/>
          </a:p>
        </p:txBody>
      </p:sp>
      <p:sp>
        <p:nvSpPr>
          <p:cNvPr id="13" name="Text 10"/>
          <p:cNvSpPr/>
          <p:nvPr/>
        </p:nvSpPr>
        <p:spPr>
          <a:xfrm>
            <a:off x="6236208" y="265176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Outsourcing cost</a:t>
            </a:r>
            <a:endParaRPr lang="en-US" sz="740" dirty="0"/>
          </a:p>
        </p:txBody>
      </p:sp>
      <p:sp>
        <p:nvSpPr>
          <p:cNvPr id="14" name="Text 11"/>
          <p:cNvSpPr/>
          <p:nvPr/>
        </p:nvSpPr>
        <p:spPr>
          <a:xfrm>
            <a:off x="7562088" y="2642616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by +15% due YOY Per PMO rate increase (Majorly in BD &amp; SDS) also outsourcing price impact.</a:t>
            </a:r>
            <a:endParaRPr lang="en-US" sz="630" dirty="0"/>
          </a:p>
        </p:txBody>
      </p:sp>
      <p:sp>
        <p:nvSpPr>
          <p:cNvPr id="15" name="Text 12"/>
          <p:cNvSpPr/>
          <p:nvPr/>
        </p:nvSpPr>
        <p:spPr>
          <a:xfrm>
            <a:off x="6236208" y="31729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Consultancy cost</a:t>
            </a:r>
            <a:endParaRPr lang="en-US" sz="740" dirty="0"/>
          </a:p>
        </p:txBody>
      </p:sp>
      <p:sp>
        <p:nvSpPr>
          <p:cNvPr id="16" name="Text 13"/>
          <p:cNvSpPr/>
          <p:nvPr/>
        </p:nvSpPr>
        <p:spPr>
          <a:xfrm>
            <a:off x="7562088" y="3163824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by +658mINR, largely due one-time costs and project-related charges.</a:t>
            </a:r>
            <a:endParaRPr lang="en-US" sz="630" dirty="0"/>
          </a:p>
        </p:txBody>
      </p:sp>
      <p:sp>
        <p:nvSpPr>
          <p:cNvPr id="17" name="Text 14"/>
          <p:cNvSpPr/>
          <p:nvPr/>
        </p:nvSpPr>
        <p:spPr>
          <a:xfrm>
            <a:off x="6236208" y="369417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Charges &amp; Other Revenue</a:t>
            </a:r>
            <a:endParaRPr lang="en-US" sz="740" dirty="0"/>
          </a:p>
        </p:txBody>
      </p:sp>
      <p:sp>
        <p:nvSpPr>
          <p:cNvPr id="18" name="Text 15"/>
          <p:cNvSpPr/>
          <p:nvPr/>
        </p:nvSpPr>
        <p:spPr>
          <a:xfrm>
            <a:off x="7562088" y="3685032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Largely on account of price increase, forex exchange rate impact and additional software purchases.</a:t>
            </a:r>
            <a:endParaRPr lang="en-US" sz="630" dirty="0"/>
          </a:p>
        </p:txBody>
      </p:sp>
      <p:sp>
        <p:nvSpPr>
          <p:cNvPr id="19" name="Text 16"/>
          <p:cNvSpPr/>
          <p:nvPr/>
        </p:nvSpPr>
        <p:spPr>
          <a:xfrm>
            <a:off x="6236208" y="421538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Cost</a:t>
            </a:r>
            <a:endParaRPr lang="en-US" sz="740" dirty="0"/>
          </a:p>
        </p:txBody>
      </p:sp>
      <p:sp>
        <p:nvSpPr>
          <p:cNvPr id="20" name="Text 17"/>
          <p:cNvSpPr/>
          <p:nvPr/>
        </p:nvSpPr>
        <p:spPr>
          <a:xfrm>
            <a:off x="7562088" y="4206240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cost is on account of recovery from additional costs charged in FY22 &amp; H1'26.</a:t>
            </a:r>
            <a:endParaRPr lang="en-US" sz="630" dirty="0"/>
          </a:p>
        </p:txBody>
      </p:sp>
      <p:sp>
        <p:nvSpPr>
          <p:cNvPr id="21" name="Text 18"/>
          <p:cNvSpPr/>
          <p:nvPr/>
        </p:nvSpPr>
        <p:spPr>
          <a:xfrm>
            <a:off x="6236208" y="473659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expenses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7562088" y="4727448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is due to customer claim reversal, release of provision and other prior-period adjustments.</a:t>
            </a:r>
            <a:endParaRPr lang="en-US" sz="630" dirty="0"/>
          </a:p>
        </p:txBody>
      </p:sp>
      <p:sp>
        <p:nvSpPr>
          <p:cNvPr id="23" name="Text 20"/>
          <p:cNvSpPr/>
          <p:nvPr/>
        </p:nvSpPr>
        <p:spPr>
          <a:xfrm>
            <a:off x="6236208" y="5285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40" i="1" dirty="0">
                <a:solidFill>
                  <a:srgbClr val="65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{{evidence_note}}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6236208" y="580644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65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authorized Enterprise Data cube read at run time. Actual and CF scenarios remain separate.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7909560" cy="292608"/>
          </a:xfrm>
          <a:prstGeom prst="rect">
            <a:avLst/>
          </a:prstGeom>
          <a:solidFill>
            <a:srgbClr val="008A99"/>
          </a:solidFill>
          <a:ln w="12700">
            <a:solidFill>
              <a:srgbClr val="008A99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09560" y="6565392"/>
            <a:ext cx="2423160" cy="292608"/>
          </a:xfrm>
          <a:prstGeom prst="rect">
            <a:avLst/>
          </a:prstGeom>
          <a:solidFill>
            <a:srgbClr val="E20015"/>
          </a:solidFill>
          <a:ln w="12700">
            <a:solidFill>
              <a:srgbClr val="E20015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332720" y="6565392"/>
            <a:ext cx="1856232" cy="292608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660196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10817352" y="65745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 P&amp;L Analysis Template</dc:title>
  <dc:subject>Editable Entity P&amp;L PowerPoint template</dc:subject>
  <dc:creator>LedgerLM</dc:creator>
  <cp:lastModifiedBy>LedgerLM</cp:lastModifiedBy>
  <cp:revision>1</cp:revision>
  <dcterms:created xsi:type="dcterms:W3CDTF">2026-08-20T14:50:05Z</dcterms:created>
  <dcterms:modified xsi:type="dcterms:W3CDTF">2026-08-20T14:50:05Z</dcterms:modified>
</cp:coreProperties>
</file>