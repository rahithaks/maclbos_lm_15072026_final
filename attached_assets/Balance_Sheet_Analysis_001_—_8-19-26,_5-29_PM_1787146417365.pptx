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
equivalents</c:v>
                  </c:pt>
                  <c:pt idx="1">
                    <c:v>Trade
receivables</c:v>
                  </c:pt>
                  <c:pt idx="2">
                    <c:v>Other
current</c:v>
                  </c:pt>
                  <c:pt idx="3">
                    <c:v>Investments</c:v>
                  </c:pt>
                  <c:pt idx="4">
                    <c:v>Right-of-use
assets</c:v>
                  </c:pt>
                  <c:pt idx="5">
                    <c:v>Fixed assets</c:v>
                  </c:pt>
                  <c:pt idx="6">
                    <c:v>Other
non-current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</c:v>
                </c:pt>
                <c:pt idx="1">
                  <c:v>15425.05</c:v>
                </c:pt>
                <c:pt idx="2">
                  <c:v>8228.44</c:v>
                </c:pt>
                <c:pt idx="3">
                  <c:v>15142.79</c:v>
                </c:pt>
                <c:pt idx="4">
                  <c:v>7945.14</c:v>
                </c:pt>
                <c:pt idx="5">
                  <c:v>10977.72</c:v>
                </c:pt>
                <c:pt idx="6">
                  <c:v>12815.6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
equivalents</c:v>
                  </c:pt>
                  <c:pt idx="1">
                    <c:v>Trade
receivables</c:v>
                  </c:pt>
                  <c:pt idx="2">
                    <c:v>Other
current</c:v>
                  </c:pt>
                  <c:pt idx="3">
                    <c:v>Investments</c:v>
                  </c:pt>
                  <c:pt idx="4">
                    <c:v>Right-of-use
assets</c:v>
                  </c:pt>
                  <c:pt idx="5">
                    <c:v>Fixed assets</c:v>
                  </c:pt>
                  <c:pt idx="6">
                    <c:v>Other
non-current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</c:v>
                </c:pt>
                <c:pt idx="1">
                  <c:v>24658.81</c:v>
                </c:pt>
                <c:pt idx="2">
                  <c:v>6678.53</c:v>
                </c:pt>
                <c:pt idx="3">
                  <c:v>18830.8</c:v>
                </c:pt>
                <c:pt idx="4">
                  <c:v>8430.26</c:v>
                </c:pt>
                <c:pt idx="5">
                  <c:v>11192.24</c:v>
                </c:pt>
                <c:pt idx="6">
                  <c:v>13077.25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-3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
reserves</c:v>
                  </c:pt>
                  <c:pt idx="1">
                    <c:v>Trade
payables</c:v>
                  </c:pt>
                  <c:pt idx="2">
                    <c:v>Lease
liabilities</c:v>
                  </c:pt>
                  <c:pt idx="3">
                    <c:v>Provisions</c:v>
                  </c:pt>
                  <c:pt idx="4">
                    <c:v>Other
liabilities</c:v>
                  </c:pt>
                  <c:pt idx="5">
                    <c:v>Non-current
liab. &amp; prov.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52905.39</c:v>
                </c:pt>
                <c:pt idx="1">
                  <c:v>11411.06</c:v>
                </c:pt>
                <c:pt idx="2">
                  <c:v>9535.71</c:v>
                </c:pt>
                <c:pt idx="3">
                  <c:v>4671.53</c:v>
                </c:pt>
                <c:pt idx="4">
                  <c:v>9004.29</c:v>
                </c:pt>
                <c:pt idx="5">
                  <c:v>6636.51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
reserves</c:v>
                  </c:pt>
                  <c:pt idx="1">
                    <c:v>Trade
payables</c:v>
                  </c:pt>
                  <c:pt idx="2">
                    <c:v>Lease
liabilities</c:v>
                  </c:pt>
                  <c:pt idx="3">
                    <c:v>Provisions</c:v>
                  </c:pt>
                  <c:pt idx="4">
                    <c:v>Other
liabilities</c:v>
                  </c:pt>
                  <c:pt idx="5">
                    <c:v>Non-current
liab. &amp; prov.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57995.18</c:v>
                </c:pt>
                <c:pt idx="1">
                  <c:v>9117.49</c:v>
                </c:pt>
                <c:pt idx="2">
                  <c:v>10070.85</c:v>
                </c:pt>
                <c:pt idx="3">
                  <c:v>4224.25</c:v>
                </c:pt>
                <c:pt idx="4">
                  <c:v>12310.75</c:v>
                </c:pt>
                <c:pt idx="5">
                  <c:v>5227.16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-3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Cash equivalents: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asset increase is Bank balances ≤ 90 days rising from 1,561 mINR to 12,021 mINR (change +10,460 mINR, +670.2%).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asset decrease is Trade receivables - K declining from 21,422 mINR to 12,685 mINR (change -8,737 mINR, -40.8%).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movements align with the roll-up shift from Trade receivables &amp; unbilled (24,659 mINR to 15,425 mINR) toward Cash &amp; cash equivalents (16,078 mINR to 23,630 mINR); the dataset does not provide a causal explanation for the reallocation.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15,425 mINR at Jun-26 vs 24,659 mINR at Mar-26: -9,234 mINR (-37.4%).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8,228 mINR at Jun-26 vs 6,679 mINR at Mar-26: +1,550 mINR (+23.2%).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Investments in Group Entities: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15,143 mINR at Jun-26 vs 18,831 mINR at Mar-26: -3,688 mINR (-19.6%).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10,978 mINR at Jun-26 vs 11,192 mINR at Mar-26: -215 mINR (-1.9%).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Noncurrent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12,816 mINR at Jun-26 vs 13,077 mINR at Mar-26: -262 mINR (-2.0%).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Right-of-use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7,945 mINR at Jun-26 vs 8,430 mINR at Mar-26: -485 mINR (-5.8%). No further commentary generated for this line.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3959352"/>
            <a:ext cx="2889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256032" y="4261104"/>
            <a:ext cx="5458968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flagged from the data — add from supporting schedules.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flagged from the data — add from supporting schedules.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484632"/>
            <a:ext cx="104515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9048" y="978408"/>
            <a:ext cx="5065776" cy="4892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 increased, driven by Trade payables - 3rd, B-c, B-f rising from 5,048 mINR to 6,507 mINR (change +1,459 mINR, +28.9%) and Trade payables - K rising from 4,016 mINR to 4,830 mINR (change +814.40 mINR, +20.3%).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 shifted within tenor: Lease liabilities (lessee) ≤ 1 y decreased from 2,666 mINR to 1,755 mINR (change -910.69 mINR, -34.2%) while Lease liabilities (lessee) &gt; 1 y increased from 7,405 mINR to 7,780 mINR (change +375.55 mINR, +5.1%).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9,004 mINR at Jun-26 vs 12,311 mINR at Mar-26: -3,306 mINR (-26.9%).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 decreased to 52,905 mINR at Jun-26 from 57,995 mINR at Mar-26.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attributes this to Total: Earned surplus reserves falling from 57,954 mINR to 52,864 mINR (change -5,090 mINR, -8.8%).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further breakdown of earned surplus movements is available in the provided data.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9,536 mINR at Jun-26 vs 10,071 mINR at Mar-26: -535 mINR (-5.3%).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4,672 mINR at Jun-26 vs 4,224 mINR at Mar-26: +447 mINR (+10.6%).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Non-current liabilities &amp; provisions: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6,637 mINR at Jun-26 vs 5,227 mINR at Mar-26: +1,409 mINR (+27.0%). No further commentary generated for this line.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400507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93776" y="4197096"/>
            <a:ext cx="5330952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Solvency watch: debt-to-equity increased to 0.78 at Jun-26 from 0.71 at Mar-26 (still below Sep-25 at 1.12), alongside an equity ratio decline to 56.2% from 58.6%.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movement concentration: Total: Earned surplus reserves fell by -5,090 mINR (-8.8%) from Mar-26 to Jun-26; the dataset does not identify an underlying driver beyond this line item movement.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Payables and provisions increased: Trade payables rose to 11,411 mINR at Jun-26 from 9,117 mINR at Mar-26, and Provisions increased to 4,672 mINR from 4,224 mINR, which can pressure liquidity if the trend continues.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2026-08-19T11:59:56Z</dcterms:created>
  <dcterms:modified xsi:type="dcterms:W3CDTF">2026-08-19T11:59:56Z</dcterms:modified>
</cp:coreProperties>
</file>